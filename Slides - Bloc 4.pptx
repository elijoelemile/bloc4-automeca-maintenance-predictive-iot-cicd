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lijoelemile/Bloc4-AutoMeca-Maintenance-Predictive-IoT-Solution-IA" TargetMode="External"/><Relationship Id="rId2" Type="http://schemas.openxmlformats.org/officeDocument/2006/relationships/hyperlink" Target="https://github.com/Elijoelemile/Bloc4-AutoMeca-Maintenance-Predictive-IoT-CIC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9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2103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C3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514600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Mise en production de la maintenance prédictive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794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 — Maintenance prédictive IoT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6126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3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Mise en situation — 5 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281160" y="1874520"/>
            <a:ext cx="1737360" cy="1737360"/>
          </a:xfrm>
          <a:prstGeom prst="ellipse">
            <a:avLst/>
          </a:prstGeom>
          <a:ln w="19050">
            <a:solidFill>
              <a:srgbClr val="A9C3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55480" y="2148840"/>
            <a:ext cx="1188720" cy="1188720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555480" y="21488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4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 problème métier à la solution en production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14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1546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salariés — ETI, Tier 1 freinage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488436" y="1600200"/>
            <a:ext cx="10973" cy="2103120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11880" y="2514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1546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machines — 12 lignes, 3x8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23076" y="1600200"/>
            <a:ext cx="10973" cy="2103120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46520" y="2514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15 000 €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31546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coût d'une heure d'arrêt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157716" y="1600200"/>
            <a:ext cx="10973" cy="2103120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81160" y="2514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66C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-30 %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31546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objectif d'arrêts non planifiés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85800" y="4160520"/>
            <a:ext cx="10835640" cy="10973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" y="4434840"/>
            <a:ext cx="10835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Deux modèles d'IA + un pipeline de déploiement complet  </a:t>
            </a:r>
            <a:pPr indent="0" marL="0">
              <a:buNone/>
            </a:pPr>
            <a:r>
              <a:rPr lang="en-US" sz="15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pour répondre concrètement à cet objectif, avec un garde-fou humain sur toute décision à fort impact.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5166360"/>
            <a:ext cx="10835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Rappel (Bloc 1) : maintenance actuelle corrective / calendaire — ce Bloc 4 livre le système qui la remplace.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Deux modèles complémentaires, entraînés sur données réelles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1417320"/>
            <a:ext cx="5074920" cy="457200"/>
          </a:xfrm>
          <a:prstGeom prst="rect">
            <a:avLst/>
          </a:prstGeom>
          <a:solidFill>
            <a:srgbClr val="F6F9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14173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66C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DÉTECTION D'ANOMALIES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984248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Isolation Forest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606040"/>
            <a:ext cx="5074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 supervisé — entraîné uniquement sur des périodes « normales » (&gt;7 j avant panne)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740 452 observations réelles (télémétrie Microsoft Azure Predictive Maintenance)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AUC = 0,93 (validation croisée temporelle, 5 plis)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Taux de faux positifs mesuré : 7 % — cohérent avec le paramètre contamination = 0,05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46520" y="1417320"/>
            <a:ext cx="5074920" cy="457200"/>
          </a:xfrm>
          <a:prstGeom prst="rect">
            <a:avLst/>
          </a:prstGeom>
          <a:solidFill>
            <a:srgbClr val="F6F9F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29400" y="14173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DURÉE DE VIE RÉSIDUELLE (RUL)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1984248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Random Survival Forest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606040"/>
            <a:ext cx="5074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Gère nativement la censure — 68,3 % des observations réelles sont censurées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2 266 épisodes de vie réels (719 événements observés, 1 547 censures)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C-index = 0,78 (validation croisée temporelle, 5 plis)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Alimente le seuil de criticité (P[panne sous 7 j] ≥ 0,335)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309360" y="1417320"/>
            <a:ext cx="10973" cy="4160520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5623560"/>
            <a:ext cx="10835640" cy="594360"/>
          </a:xfrm>
          <a:prstGeom prst="rect">
            <a:avLst/>
          </a:prstGeom>
          <a:solidFill>
            <a:srgbClr val="E9F3F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5623560"/>
            <a:ext cx="10378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Pourquoi ces choix : </a:t>
            </a:r>
            <a:pPr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 limité (CPU suffisant, pas de GPU) · compatibles SHAP (explicabilité) · censure gérée nativement, pas ignorée comme avec un LSTM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garde-fou humain sur les décisions à fort impact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141732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F6F9FC"/>
          </a:solidFill>
          <a:ln w="12700">
            <a:solidFill>
              <a:srgbClr val="DBE4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14173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Alerte de criticité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calculée par le modèle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1600200"/>
            <a:ext cx="685800" cy="50292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V="1">
            <a:off x="3200400" y="1828800"/>
            <a:ext cx="685800" cy="50292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977640" y="1234440"/>
            <a:ext cx="2880360" cy="594360"/>
          </a:xfrm>
          <a:prstGeom prst="roundRect">
            <a:avLst>
              <a:gd name="adj" fmla="val 12308"/>
            </a:avLst>
          </a:prstGeom>
          <a:solidFill>
            <a:srgbClr val="0A66C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977640" y="123444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Criticité standard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95160" y="1531620"/>
            <a:ext cx="640080" cy="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26680" y="1234440"/>
            <a:ext cx="3566160" cy="594360"/>
          </a:xfrm>
          <a:prstGeom prst="roundRect">
            <a:avLst>
              <a:gd name="adj" fmla="val 12308"/>
            </a:avLst>
          </a:prstGeom>
          <a:solidFill>
            <a:srgbClr val="E9F3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26680" y="123444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Assignée directement à l'équipe maintenance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977640" y="2057400"/>
            <a:ext cx="2880360" cy="594360"/>
          </a:xfrm>
          <a:prstGeom prst="roundRect">
            <a:avLst>
              <a:gd name="adj" fmla="val 12308"/>
            </a:avLst>
          </a:prstGeom>
          <a:solidFill>
            <a:srgbClr val="F5C34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977640" y="20574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Criticité élevée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995160" y="2354580"/>
            <a:ext cx="640080" cy="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726680" y="1965960"/>
            <a:ext cx="3566160" cy="777240"/>
          </a:xfrm>
          <a:prstGeom prst="roundRect">
            <a:avLst>
              <a:gd name="adj" fmla="val 9412"/>
            </a:avLst>
          </a:prstGeom>
          <a:solidFill>
            <a:srgbClr val="FDF1D2"/>
          </a:solidFill>
          <a:ln w="15875">
            <a:solidFill>
              <a:srgbClr val="F5C34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26680" y="19659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6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 obligatoire d'un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8A6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technicien senior avant toute action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5800" y="3063240"/>
            <a:ext cx="10835640" cy="10973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3209544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7280" y="3063240"/>
            <a:ext cx="6263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Seuil de criticité —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Anomalie détectée OU P(panne sous 7 j) ≥ 0,335 (~38 % des vraies pannes couvertes) — l'arbitrage qui sert le -30 % du Bloc 1 : plus bas capterait plus de pannes, mais avec plus de fausses alertes</a:t>
            </a:r>
            <a:endParaRPr lang="en-US" sz="1250" dirty="0"/>
          </a:p>
        </p:txBody>
      </p:sp>
      <p:pic>
        <p:nvPicPr>
          <p:cNvPr id="27" name="Image 0" descr="C:\Users\Эли Жоэль\AppData\Local\Temp\claude\c--Users-----------PROJET-CERTIFICATION-RNCP7\5844862f-de68-4d0c-b66e-0e7983021080\scratchpad\slides\seuil_critici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3108960"/>
            <a:ext cx="2545232" cy="868680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777240" y="4151376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97280" y="4005072"/>
            <a:ext cx="10378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Dégradation gracieuse —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mesure capteur manquante est imputée et signalée, sauf si plus de 50 % des mesures manquent — la prédiction n'est alors plus jugée fiable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777240" y="4636008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1097280" y="4489704"/>
            <a:ext cx="6263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authentifiée —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Toutes les routes (hors supervision d'infrastructure) exigent une clé API — X-API-Key</a:t>
            </a:r>
            <a:endParaRPr lang="en-US" sz="1250" dirty="0"/>
          </a:p>
        </p:txBody>
      </p:sp>
      <p:pic>
        <p:nvPicPr>
          <p:cNvPr id="32" name="Image 1" descr="C:\Users\Эли Жоэль\AppData\Local\Temp\claude\c--Users-----------PROJET-CERTIFICATION-RNCP7\5844862f-de68-4d0c-b66e-0e7983021080\scratchpad\slides\auth_api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589520" y="4535424"/>
            <a:ext cx="2927452" cy="868680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77240" y="5577840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1097280" y="5431536"/>
            <a:ext cx="6263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Garde-fou verrouillé dans le code —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statut reste « en attente de validation » jusqu'à l'appel explicite de POST /tickets/{id}/valider — jamais automatique</a:t>
            </a:r>
            <a:endParaRPr lang="en-US" sz="1250" dirty="0"/>
          </a:p>
        </p:txBody>
      </p:sp>
      <p:pic>
        <p:nvPicPr>
          <p:cNvPr id="35" name="Image 2" descr="C:\Users\Эли Жоэль\AppData\Local\Temp\claude\c--Users-----------PROJET-CERTIFICATION-RNCP7\5844862f-de68-4d0c-b66e-0e7983021080\scratchpad\slides\garde_fou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589520" y="5477256"/>
            <a:ext cx="1754734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 l'entraînement au déploiement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146304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0B294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14630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unitaires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(modèles simulés)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017520" y="1920240"/>
            <a:ext cx="411480" cy="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29000" y="146304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0B294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4630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Non-régression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 modèle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60720" y="1920240"/>
            <a:ext cx="411480" cy="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72200" y="146304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0B294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72200" y="14630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Conteneurisation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(Docker)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03920" y="1920240"/>
            <a:ext cx="411480" cy="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915400" y="146304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F6F9FC"/>
          </a:solidFill>
          <a:ln w="12700">
            <a:solidFill>
              <a:srgbClr val="DBE4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915400" y="14630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Déploiement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(différé)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2514600"/>
            <a:ext cx="10835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 — substitution équivalente à « GitLab CI » (formulation illustrative du sujet)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" y="3063240"/>
            <a:ext cx="10835640" cy="10973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23" name="Shape 21"/>
          <p:cNvSpPr/>
          <p:nvPr/>
        </p:nvSpPr>
        <p:spPr>
          <a:xfrm>
            <a:off x="777240" y="3392424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97280" y="324612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 tests automatisés — </a:t>
            </a:r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Unitaires simulés + fonctionnels réels (vraie API, vrais modèles, interface pilotée automatiquement)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" y="4261104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7280" y="41148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Gestion des versions — </a:t>
            </a:r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MLflow (registre de modèles, tous les essais du grid search) côté entraînement + Git LFS pour le transfert du fichier vers le déploiement (186 Mo)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77240" y="5129784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97280" y="498348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Deux dépôts distincts — </a:t>
            </a:r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IA (entraînement, notebooks) et CI/CD (déploiement, infrastructure) — exigence explicite du sujet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Surveiller le modèle après la mise en production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137160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Dérive des variables d'entrée (PSI) —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fenêtre calibrée empiriquement (n = 200) pour éviter les fausses alertes par bruit d'échantillonnage ; variables continues (déciles) et catégorielles (proportions exactes) traitées séparément</a:t>
            </a:r>
            <a:endParaRPr lang="en-US" sz="1350" dirty="0"/>
          </a:p>
        </p:txBody>
      </p:sp>
      <p:pic>
        <p:nvPicPr>
          <p:cNvPr id="11" name="Image 0" descr="C:\Users\Эли Жоэль\AppData\Local\Temp\claude\c--Users-----------PROJET-CERTIFICATION-RNCP7\5844862f-de68-4d0c-b66e-0e7983021080\scratchpad\slides\seuil_ps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63840" y="1371600"/>
            <a:ext cx="2927452" cy="8686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85800" y="2514600"/>
            <a:ext cx="10835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Performance en production — </a:t>
            </a:r>
            <a:pPr indent="0" marL="0">
              <a:buNone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précision et taux de fausses alertes mesurés à partir du retour terrain (clôture de ticket) ; latence du service de l'ordre de la centaine de ms — largement sous le seuil de conformité de 5 minutes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85800" y="3429000"/>
            <a:ext cx="10835640" cy="1051560"/>
          </a:xfrm>
          <a:prstGeom prst="rect">
            <a:avLst/>
          </a:prstGeom>
          <a:solidFill>
            <a:srgbClr val="FDF1D2"/>
          </a:solidFill>
          <a:ln w="12700">
            <a:solidFill>
              <a:srgbClr val="F5C3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" y="3429000"/>
            <a:ext cx="10378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8A6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Limite — alerting 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Aujourd'hui : consultation active (pull) via les endpoints /monitoring/* et l'interface de supervision. Pas encore de notification poussée (email/Slack) — évolution naturelle pour une mise en production réelle, hors périmètre budgétaire de cette certification.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4709160"/>
            <a:ext cx="10835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Réentraînement : pas de job automatique en CI (jeu d'entraînement de plusieurs Go) — signal explicite envoyé à l'équipe data, qui relance les notebooks versionnés et déterministes du dépôt solution-IA.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Conformité et IA éthique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1463040"/>
            <a:ext cx="457200" cy="457200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14173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RGPD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19202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Périmètre réel = uniquement données machine (jamais opérateur, badge ou planning) — registre RGPD/AIPD au Bloc 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7889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Aucune AIPD dupliquée : ce service reste hors périmètre des données personnelles.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63640" y="1463040"/>
            <a:ext cx="457200" cy="457200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14173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27001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19202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authentifiée, conteneur non-root, aucun secret en dur, alignement avec le SMSI du Bloc 1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27889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Contrôles vérifiables dans Dockerfile et app/main.py.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3749040"/>
            <a:ext cx="457200" cy="457200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580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37033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 éthique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42062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Explicabilité SHAP (facteurs déclencheurs réels) · non-discrimination structurelle (aucune variable équipe/poste) · vie privée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280160" y="50749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Voir GET /tickets/{id}/explication — calcul réel, pas une promesse.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63640" y="3749040"/>
            <a:ext cx="457200" cy="457200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6364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0" y="37033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Accessibilité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42062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Interface native (Streamlit), jamais la couleur seule — limite : pas d'audit avec un lecteur d'écran réel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858000" y="50749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Aucun HTML/JS injecté qui casserait la navigation clavier native.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5800" y="5806440"/>
            <a:ext cx="10835640" cy="10973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85800" y="5943600"/>
            <a:ext cx="10835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Principe suivi sur les quatre points : </a:t>
            </a:r>
            <a:pPr indent="0" marL="0">
              <a:buNone/>
            </a:pPr>
            <a:r>
              <a:rPr lang="en-US" sz="12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affirmation renvoie à du code ou un test vérifiable — voir CONFORMITE.md dans le dépôt CI/CD.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L'interface de supervision, en conditions réelles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pic>
        <p:nvPicPr>
          <p:cNvPr id="10" name="Image 0" descr="C:\Users\Эли Жоэль\AppData\Local\Temp\claude\c--Users-----------PROJET-CERTIFICATION-RNCP7\5844862f-de68-4d0c-b66e-0e7983021080\scratchpad\slides\capture_interface.png">    </p:cNvPr>
          <p:cNvPicPr>
            <a:picLocks noChangeAspect="1"/>
          </p:cNvPicPr>
          <p:nvPr/>
        </p:nvPicPr>
        <p:blipFill>
          <a:blip r:embed="rId1"/>
          <a:srcRect l="-9579" r="-9579" t="0" b="0"/>
          <a:stretch/>
        </p:blipFill>
        <p:spPr>
          <a:xfrm>
            <a:off x="685800" y="1325880"/>
            <a:ext cx="6949440" cy="489204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85800" y="1325880"/>
            <a:ext cx="6949440" cy="4892040"/>
          </a:xfrm>
          <a:prstGeom prst="rect">
            <a:avLst/>
          </a:prstGeom>
          <a:ln w="12700">
            <a:solidFill>
              <a:srgbClr val="DBE4E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909560" y="1463040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1307592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Garde-fou visible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statut « en attente de validation » s'affiche en texte, jamais par la couleur seule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909560" y="2971800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183880" y="2816352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Facteurs déclencheurs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Tableau + graphique SHAP calculés à la demande sur ce ticket précis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09560" y="4480560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183880" y="4325112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Capture réelle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 et modèles réels, pas une maquette — pilotée automatiquement (streamlit.testing.v1.AppTest)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9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Synthèse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7373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Deux modèles réels (AUC 0,93 / C-index 0,78), un pipeline CI/CD complet, une dérive et une performance surveillées en production, un garde-fou humain sur toute décision à fort impact, et une conformité construite sur du code et des tests vérifiables — pas de simples affirmations.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0" y="3200400"/>
            <a:ext cx="9966960" cy="10973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593592"/>
            <a:ext cx="109728" cy="1097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88720" y="342900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66B2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Bloc4-AutoMeca-Maintenance-Predictive-IoT-Solution-IA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A9C3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Entraînement des modèles, notebooks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4370832"/>
            <a:ext cx="109728" cy="1097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88720" y="4206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66B2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Bloc4-AutoMeca-Maintenance-Predictive-IoT-CICD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A9C3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API, interface de supervision, pipeline CI/CD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52578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9C3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Limites : réentraînement manuel (pas automatique), déploiement OVHcloud différé, alerting pull (pas encore de notification poussée).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6035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Merci — questions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2026-09-25T02:46:24Z</dcterms:created>
  <dcterms:modified xsi:type="dcterms:W3CDTF">2026-09-25T02:46:24Z</dcterms:modified>
</cp:coreProperties>
</file>